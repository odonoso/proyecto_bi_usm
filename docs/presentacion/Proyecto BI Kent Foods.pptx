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11" Type="http://schemas.openxmlformats.org/officeDocument/2006/relationships/slide" Target="slides/slide6.xml"/><Relationship Id="rId22" Type="http://schemas.openxmlformats.org/officeDocument/2006/relationships/font" Target="fonts/Poppins-italic.fntdata"/><Relationship Id="rId10" Type="http://schemas.openxmlformats.org/officeDocument/2006/relationships/slide" Target="slides/slide5.xml"/><Relationship Id="rId21" Type="http://schemas.openxmlformats.org/officeDocument/2006/relationships/font" Target="fonts/Poppi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abfbb96615ecf0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abfbb96615ecf0a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abfbb96615ecf0a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habfbb96615ecf0a_7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odonoso/proyecto_BI_usm/blob/main/database/scripts/build_script.sql" TargetMode="External"/><Relationship Id="rId4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048125" y="5524500"/>
            <a:ext cx="4095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3698001" y="3048000"/>
            <a:ext cx="4795997" cy="838200"/>
          </a:xfrm>
          <a:prstGeom prst="rect">
            <a:avLst/>
          </a:prstGeom>
          <a:solidFill>
            <a:srgbClr val="FFE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048125" y="5524500"/>
            <a:ext cx="4095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173090" y="1871213"/>
            <a:ext cx="384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INTELIGENCIA DE NEGOCIOS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70521" y="2209800"/>
            <a:ext cx="76509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Data Analytics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524125" y="4343400"/>
            <a:ext cx="7143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Transformación de registros transaccionales en decisiones estratégicas.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250901" y="3048000"/>
            <a:ext cx="5690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Kent Foods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536156" y="5772150"/>
            <a:ext cx="5119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PRESENTADO POR EL EQUIPO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536156" y="6010275"/>
            <a:ext cx="5119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Felipe Gamboa • Osvaldo Donoso • Gonzalo Cayupil</a:t>
            </a:r>
            <a:endParaRPr/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725" y="309550"/>
            <a:ext cx="2167357" cy="9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4048125" y="5158875"/>
            <a:ext cx="511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Docente: Hernan Marcelo Saavedra Gonzalez</a:t>
            </a:r>
            <a:endParaRPr b="1" sz="1200">
              <a:solidFill>
                <a:srgbClr val="2A226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0975" y="72225"/>
            <a:ext cx="2549960" cy="190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762000" y="2819400"/>
            <a:ext cx="3352800" cy="2562225"/>
          </a:xfrm>
          <a:prstGeom prst="roundRect">
            <a:avLst>
              <a:gd fmla="val 59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419600" y="2819400"/>
            <a:ext cx="3352800" cy="2562225"/>
          </a:xfrm>
          <a:prstGeom prst="roundRect">
            <a:avLst>
              <a:gd fmla="val 59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077200" y="2819400"/>
            <a:ext cx="3352800" cy="2562225"/>
          </a:xfrm>
          <a:prstGeom prst="roundRect">
            <a:avLst>
              <a:gd fmla="val 59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1225" y="32766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0" y="32766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6425" y="32766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609600"/>
            <a:ext cx="10763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CONTEXTO ORGANIZACIONAL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923925"/>
            <a:ext cx="113014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El Modelo Kent Foods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38175" y="3962400"/>
            <a:ext cx="3600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Core Business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23900" y="4448175"/>
            <a:ext cx="3429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Venta y distribución masiva de productos alimenticios.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295775" y="3962400"/>
            <a:ext cx="3600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Logística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381500" y="4448175"/>
            <a:ext cx="3429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Operaciones centradas en despachos a domicilio y envíos.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953375" y="3962400"/>
            <a:ext cx="3600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Escenario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039100" y="4448175"/>
            <a:ext cx="3429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Crecimiento operativo y comercial acelerado reciente.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0" y="0"/>
            <a:ext cx="551408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514082" y="0"/>
            <a:ext cx="667791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187" y="1162146"/>
            <a:ext cx="3771707" cy="3771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0791" y="25717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6082" y="341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6082" y="472053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8957" y="354895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5619" y="485388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6276082" y="1470719"/>
            <a:ext cx="524916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 DESAFÍO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276082" y="1861244"/>
            <a:ext cx="5511626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Saturación Transaccional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961882" y="3415605"/>
            <a:ext cx="52301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Base OLTP Sobrecargada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961882" y="3825180"/>
            <a:ext cx="456336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Acumulación masiva de registros relacionales diarios.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961882" y="4720530"/>
            <a:ext cx="52301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Visibilidad Limitada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961882" y="5130105"/>
            <a:ext cx="4543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Dificultad gerencial para evaluar el desempeño real.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6091237" y="0"/>
            <a:ext cx="610076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091237" y="0"/>
            <a:ext cx="952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62000" y="468719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862762" y="2100262"/>
            <a:ext cx="4567237" cy="1295400"/>
          </a:xfrm>
          <a:prstGeom prst="roundRect">
            <a:avLst>
              <a:gd fmla="val 88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862762" y="3700462"/>
            <a:ext cx="4567237" cy="1057275"/>
          </a:xfrm>
          <a:prstGeom prst="roundRect">
            <a:avLst>
              <a:gd fmla="val 108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862762" y="2100262"/>
            <a:ext cx="57150" cy="129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862762" y="3700462"/>
            <a:ext cx="57150" cy="1057275"/>
          </a:xfrm>
          <a:prstGeom prst="rect">
            <a:avLst/>
          </a:prstGeom>
          <a:solidFill>
            <a:srgbClr val="FFE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762000" y="1966019"/>
            <a:ext cx="4662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 OBJETIVO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2356544"/>
            <a:ext cx="4895611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Estrategia Analítica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3758505"/>
            <a:ext cx="46624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Suministrar métricas consolidadas para optimizar decisiones gerenciales.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66800" y="4634805"/>
            <a:ext cx="196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Metodología de 4 pasos de Kimball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148512" y="2328862"/>
            <a:ext cx="43555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1. Data Warehouse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148512" y="2690812"/>
            <a:ext cx="414813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Estructuración dimensional orientada a consultas rápidas.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148512" y="3929062"/>
            <a:ext cx="43555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2. Flujo ETL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148512" y="4291012"/>
            <a:ext cx="41481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Extracción y carga automatizada nativa en SSIS.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/>
          <p:nvPr/>
        </p:nvSpPr>
        <p:spPr>
          <a:xfrm>
            <a:off x="1771650" y="3005137"/>
            <a:ext cx="2476500" cy="942975"/>
          </a:xfrm>
          <a:prstGeom prst="roundRect">
            <a:avLst>
              <a:gd fmla="val 80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1771650" y="4176712"/>
            <a:ext cx="2476500" cy="942975"/>
          </a:xfrm>
          <a:prstGeom prst="roundRect">
            <a:avLst>
              <a:gd fmla="val 80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476750" y="2405062"/>
            <a:ext cx="3238500" cy="885825"/>
          </a:xfrm>
          <a:prstGeom prst="roundRect">
            <a:avLst>
              <a:gd fmla="val 86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4476750" y="3519487"/>
            <a:ext cx="3238500" cy="2200275"/>
          </a:xfrm>
          <a:prstGeom prst="roundRect">
            <a:avLst>
              <a:gd fmla="val 10389" name="adj"/>
            </a:avLst>
          </a:prstGeom>
          <a:solidFill>
            <a:srgbClr val="2A22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943850" y="3005137"/>
            <a:ext cx="2476500" cy="942975"/>
          </a:xfrm>
          <a:prstGeom prst="roundRect">
            <a:avLst>
              <a:gd fmla="val 80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7943850" y="4176712"/>
            <a:ext cx="2476500" cy="942975"/>
          </a:xfrm>
          <a:prstGeom prst="roundRect">
            <a:avLst>
              <a:gd fmla="val 80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1771650" y="3005137"/>
            <a:ext cx="57150" cy="9429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1771650" y="4176712"/>
            <a:ext cx="57150" cy="94297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4476750" y="2405062"/>
            <a:ext cx="3238500" cy="57150"/>
          </a:xfrm>
          <a:prstGeom prst="rect">
            <a:avLst/>
          </a:prstGeom>
          <a:solidFill>
            <a:srgbClr val="2A22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048250" y="4986325"/>
            <a:ext cx="2152500" cy="352500"/>
          </a:xfrm>
          <a:prstGeom prst="roundRect">
            <a:avLst>
              <a:gd fmla="val 21621" name="adj"/>
            </a:avLst>
          </a:prstGeom>
          <a:solidFill>
            <a:srgbClr val="FFE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10363200" y="3005137"/>
            <a:ext cx="57150" cy="942975"/>
          </a:xfrm>
          <a:prstGeom prst="rect">
            <a:avLst/>
          </a:prstGeom>
          <a:solidFill>
            <a:srgbClr val="FFE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10363200" y="4176712"/>
            <a:ext cx="57150" cy="942975"/>
          </a:xfrm>
          <a:prstGeom prst="rect">
            <a:avLst/>
          </a:prstGeom>
          <a:solidFill>
            <a:srgbClr val="FFE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0" y="39004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62000" y="609600"/>
            <a:ext cx="57054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ESTRUCTURA DE DATOS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923925"/>
            <a:ext cx="599074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Modelo Dimensional Estrella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2019300" y="3195637"/>
            <a:ext cx="22402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Dim_Cliente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2019300" y="3557587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Ubicación y corporativos.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2019300" y="4367212"/>
            <a:ext cx="22402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Dim_Producto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2019300" y="4729162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Categorías aplanadas.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4220765" y="2614612"/>
            <a:ext cx="37504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Dim_Empleado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4310062" y="2938462"/>
            <a:ext cx="3571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Territorios atendidos.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270771" y="4433887"/>
            <a:ext cx="365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Fact_Detalle_Venta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932420" y="3195637"/>
            <a:ext cx="22402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Dim_Tiempo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039100" y="3557587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Calendario generado.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932420" y="4367212"/>
            <a:ext cx="22402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Dim_Transportista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039100" y="4729162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Despacho logístico.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048250" y="5062537"/>
            <a:ext cx="2095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Gran</a:t>
            </a:r>
            <a:r>
              <a:rPr b="1" lang="en-US" sz="1050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ularidad</a:t>
            </a:r>
            <a:r>
              <a:rPr b="1" i="0" lang="en-US" sz="105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: Ítem por orden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1181100" y="2226468"/>
            <a:ext cx="4800600" cy="1485900"/>
          </a:xfrm>
          <a:prstGeom prst="roundRect">
            <a:avLst>
              <a:gd fmla="val 76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210300" y="2226468"/>
            <a:ext cx="4800600" cy="1485900"/>
          </a:xfrm>
          <a:prstGeom prst="roundRect">
            <a:avLst>
              <a:gd fmla="val 76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1181100" y="4488656"/>
            <a:ext cx="4800600" cy="1485900"/>
          </a:xfrm>
          <a:prstGeom prst="roundRect">
            <a:avLst>
              <a:gd fmla="val 76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210300" y="4488656"/>
            <a:ext cx="4800600" cy="1485900"/>
          </a:xfrm>
          <a:prstGeom prst="roundRect">
            <a:avLst>
              <a:gd fmla="val 76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1181100" y="2226468"/>
            <a:ext cx="4800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85900" y="3055143"/>
            <a:ext cx="4191000" cy="352425"/>
          </a:xfrm>
          <a:prstGeom prst="roundRect">
            <a:avLst>
              <a:gd fmla="val 1081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210300" y="2226468"/>
            <a:ext cx="4800600" cy="38100"/>
          </a:xfrm>
          <a:prstGeom prst="rect">
            <a:avLst/>
          </a:prstGeom>
          <a:solidFill>
            <a:srgbClr val="2A22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515100" y="3055143"/>
            <a:ext cx="4191000" cy="352425"/>
          </a:xfrm>
          <a:prstGeom prst="roundRect">
            <a:avLst>
              <a:gd fmla="val 1081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1181100" y="4488656"/>
            <a:ext cx="4800600" cy="38100"/>
          </a:xfrm>
          <a:prstGeom prst="rect">
            <a:avLst/>
          </a:prstGeom>
          <a:solidFill>
            <a:srgbClr val="FFE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1485900" y="5317331"/>
            <a:ext cx="4191000" cy="352425"/>
          </a:xfrm>
          <a:prstGeom prst="roundRect">
            <a:avLst>
              <a:gd fmla="val 1081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210300" y="4488656"/>
            <a:ext cx="4800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515100" y="5317331"/>
            <a:ext cx="4191000" cy="352425"/>
          </a:xfrm>
          <a:prstGeom prst="roundRect">
            <a:avLst>
              <a:gd fmla="val 1081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762000" y="609600"/>
            <a:ext cx="10763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CÁLCULOS NATIVOS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762000" y="923925"/>
            <a:ext cx="113014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Medidas en Fact_Venta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1485900" y="2569368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Monto Bruto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1038225" y="3131343"/>
            <a:ext cx="5086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Cantidad × Precio Unitario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515100" y="2569368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Monto Descuento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067425" y="3131343"/>
            <a:ext cx="5086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Monto Bruto × % Descuento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485900" y="4831556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Monto Total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1038225" y="5393531"/>
            <a:ext cx="5086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Monto Bruto - Monto Descuento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515100" y="4831556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Días Despacho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067425" y="5393531"/>
            <a:ext cx="5086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Fecha Envío - Fecha Orden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762000" y="1952625"/>
            <a:ext cx="5181600" cy="4295775"/>
          </a:xfrm>
          <a:prstGeom prst="roundRect">
            <a:avLst>
              <a:gd fmla="val 35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6248400" y="1952625"/>
            <a:ext cx="5181600" cy="4295775"/>
          </a:xfrm>
          <a:prstGeom prst="roundRect">
            <a:avLst>
              <a:gd fmla="val 35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762000" y="1952625"/>
            <a:ext cx="5181600" cy="38100"/>
          </a:xfrm>
          <a:prstGeom prst="rect">
            <a:avLst/>
          </a:prstGeom>
          <a:solidFill>
            <a:srgbClr val="2A22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248400" y="1952625"/>
            <a:ext cx="518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476625"/>
            <a:ext cx="294441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3476625"/>
            <a:ext cx="1581298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2371725"/>
            <a:ext cx="2286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3686175"/>
            <a:ext cx="263961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91825" y="2371725"/>
            <a:ext cx="2571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1800" y="3644949"/>
            <a:ext cx="1276498" cy="22502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762000" y="609600"/>
            <a:ext cx="10763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DE DESEMPEÑO 1/2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762000" y="923925"/>
            <a:ext cx="113014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Métricas Comerciales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1143000" y="2933700"/>
            <a:ext cx="4514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Indicador principal de salud financiera y cumplimiento de metas.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1143000" y="4105275"/>
            <a:ext cx="4514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DIMENSIONES: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1143000" y="4343400"/>
            <a:ext cx="45148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Tiempo, Producto, Cliente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629400" y="2933700"/>
            <a:ext cx="4514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Detecta volumen por categoría para estrategia de inventario.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629400" y="4105275"/>
            <a:ext cx="4514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DIMENSIONES: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629400" y="4343400"/>
            <a:ext cx="45148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Producto, Proveedor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1143000" y="2371725"/>
            <a:ext cx="34004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Ventas Netas Totales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6629400" y="2371725"/>
            <a:ext cx="23752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Concentración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736257" y="1952625"/>
            <a:ext cx="5181600" cy="4295700"/>
          </a:xfrm>
          <a:prstGeom prst="roundRect">
            <a:avLst>
              <a:gd fmla="val 35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248400" y="1952625"/>
            <a:ext cx="5181600" cy="4295775"/>
          </a:xfrm>
          <a:prstGeom prst="roundRect">
            <a:avLst>
              <a:gd fmla="val 35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762000" y="1952625"/>
            <a:ext cx="5181600" cy="38100"/>
          </a:xfrm>
          <a:prstGeom prst="rect">
            <a:avLst/>
          </a:prstGeom>
          <a:solidFill>
            <a:srgbClr val="FFE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1143000" y="3608325"/>
            <a:ext cx="4419600" cy="571500"/>
          </a:xfrm>
          <a:prstGeom prst="roundRect">
            <a:avLst>
              <a:gd fmla="val 14035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6248400" y="1952625"/>
            <a:ext cx="5181600" cy="38100"/>
          </a:xfrm>
          <a:prstGeom prst="rect">
            <a:avLst/>
          </a:prstGeom>
          <a:solidFill>
            <a:srgbClr val="2A22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850" y="2371725"/>
            <a:ext cx="285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3250" y="2371725"/>
            <a:ext cx="285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1800" y="3635424"/>
            <a:ext cx="1315491" cy="26312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762000" y="609600"/>
            <a:ext cx="10763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DE DESEMPEÑO 2/2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762000" y="923925"/>
            <a:ext cx="113014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Métricas Operativas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1143000" y="2933700"/>
            <a:ext cx="4514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Identifica socios estratégicos y evalúa riesgo de dependencia.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1143000" y="4391025"/>
            <a:ext cx="4514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DIMENSIONES: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1143000" y="4629150"/>
            <a:ext cx="45148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Producto, Tiempo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629400" y="2933700"/>
            <a:ext cx="4514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Velocidad crítica para frescura de alimentos perecibles.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629400" y="4127152"/>
            <a:ext cx="4514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DIMENSIONES: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629400" y="4365277"/>
            <a:ext cx="45148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Transportista, Cliente, Tiempo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1143000" y="2371725"/>
            <a:ext cx="41130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Rendimiento Proveedores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1312325" y="3613925"/>
            <a:ext cx="461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∑(Cantidad×PrecioUnitario×(1−Descuento)) </a:t>
            </a:r>
            <a:endParaRPr sz="1200">
              <a:solidFill>
                <a:srgbClr val="2A226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A226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Monto Neto agrupado por NombreProveedor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629400" y="2371725"/>
            <a:ext cx="44505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Tiempo Promedio Despacho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/>
          <p:nvPr/>
        </p:nvSpPr>
        <p:spPr>
          <a:xfrm>
            <a:off x="260000" y="262075"/>
            <a:ext cx="1076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445350" y="338550"/>
            <a:ext cx="113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Modelo Dimensional SQL</a:t>
            </a:r>
            <a:endParaRPr/>
          </a:p>
        </p:txBody>
      </p:sp>
      <p:pic>
        <p:nvPicPr>
          <p:cNvPr id="261" name="Google Shape;261;p2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000" y="883252"/>
            <a:ext cx="11301298" cy="5974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/>
          <p:nvPr/>
        </p:nvSpPr>
        <p:spPr>
          <a:xfrm>
            <a:off x="762000" y="2771775"/>
            <a:ext cx="3162300" cy="2657475"/>
          </a:xfrm>
          <a:prstGeom prst="roundRect">
            <a:avLst>
              <a:gd fmla="val 57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4524375" y="2762250"/>
            <a:ext cx="3143250" cy="2676525"/>
          </a:xfrm>
          <a:prstGeom prst="roundRect">
            <a:avLst>
              <a:gd fmla="val 569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8267700" y="2771775"/>
            <a:ext cx="3162300" cy="2657475"/>
          </a:xfrm>
          <a:prstGeom prst="roundRect">
            <a:avLst>
              <a:gd fmla="val 57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1076325" y="3238500"/>
            <a:ext cx="457200" cy="457200"/>
          </a:xfrm>
          <a:prstGeom prst="roundRect">
            <a:avLst>
              <a:gd fmla="val 16666" name="adj"/>
            </a:avLst>
          </a:prstGeom>
          <a:solidFill>
            <a:srgbClr val="2A22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4829175" y="3219450"/>
            <a:ext cx="457200" cy="457200"/>
          </a:xfrm>
          <a:prstGeom prst="roundRect">
            <a:avLst>
              <a:gd fmla="val 16666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4524375" y="5400675"/>
            <a:ext cx="314325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8582025" y="3238500"/>
            <a:ext cx="457200" cy="457200"/>
          </a:xfrm>
          <a:prstGeom prst="roundRect">
            <a:avLst>
              <a:gd fmla="val 16666" name="adj"/>
            </a:avLst>
          </a:prstGeom>
          <a:solidFill>
            <a:srgbClr val="FFE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3" name="Google Shape;2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2900" y="398621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25" y="3986212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762000" y="609600"/>
            <a:ext cx="10763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FLUJO AUTOMATIZADO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762000" y="923925"/>
            <a:ext cx="113014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Arquitectura ETL (SSIS)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1076325" y="3924300"/>
            <a:ext cx="33254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Extracción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4829175" y="3905250"/>
            <a:ext cx="33254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Transformación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8582025" y="3924300"/>
            <a:ext cx="33254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Carga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1243012" y="3300412"/>
            <a:ext cx="43005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076325" y="44100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Conexión OLE DB transaccional.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1076325" y="4724400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Base origen KentFoods.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4981575" y="3281362"/>
            <a:ext cx="4600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4829175" y="439102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Limpieza estricta de nulos.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4829175" y="4705350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Conversión de metadatos.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8724900" y="3300412"/>
            <a:ext cx="4800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8582025" y="44100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Base destino KentFoodsDW.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8582025" y="4724400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Validación por grano único.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 txBox="1"/>
          <p:nvPr/>
        </p:nvSpPr>
        <p:spPr>
          <a:xfrm>
            <a:off x="762000" y="609600"/>
            <a:ext cx="1076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FLUJO AUTOMATIZADO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762000" y="923925"/>
            <a:ext cx="113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Arquitectura ETL (SSIS)</a:t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762000" y="1948425"/>
            <a:ext cx="10485900" cy="4463400"/>
          </a:xfrm>
          <a:prstGeom prst="roundRect">
            <a:avLst>
              <a:gd fmla="val 57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988" y="2731750"/>
            <a:ext cx="9831925" cy="27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/>
        </p:nvSpPr>
        <p:spPr>
          <a:xfrm>
            <a:off x="2650200" y="2169450"/>
            <a:ext cx="689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Orquestación en cascada (Restricciones de Precedencia) </a:t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2650200" y="2446650"/>
            <a:ext cx="6716400" cy="37500"/>
          </a:xfrm>
          <a:prstGeom prst="rect">
            <a:avLst/>
          </a:prstGeom>
          <a:solidFill>
            <a:srgbClr val="2A22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1655225" y="5789125"/>
            <a:ext cx="7150200" cy="277200"/>
          </a:xfrm>
          <a:prstGeom prst="rect">
            <a:avLst/>
          </a:prstGeom>
          <a:solidFill>
            <a:srgbClr val="FFE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150" y="5803900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/>
        </p:nvSpPr>
        <p:spPr>
          <a:xfrm>
            <a:off x="2046825" y="5835325"/>
            <a:ext cx="793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Avisa posible </a:t>
            </a:r>
            <a:r>
              <a:rPr lang="en-US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truncación</a:t>
            </a:r>
            <a:r>
              <a:rPr lang="en-US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de datos por cambio de variable de antiguo ntext a DT_WSTR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"/>
          <p:cNvSpPr/>
          <p:nvPr/>
        </p:nvSpPr>
        <p:spPr>
          <a:xfrm>
            <a:off x="762000" y="2357437"/>
            <a:ext cx="10668000" cy="7620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762000" y="3271837"/>
            <a:ext cx="10668000" cy="7620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762000" y="4186237"/>
            <a:ext cx="10668000" cy="7620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762000" y="5100637"/>
            <a:ext cx="10668000" cy="742950"/>
          </a:xfrm>
          <a:prstGeom prst="roundRect">
            <a:avLst>
              <a:gd fmla="val 15384" name="adj"/>
            </a:avLst>
          </a:prstGeom>
          <a:solidFill>
            <a:srgbClr val="2A22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10372725" y="2609850"/>
            <a:ext cx="742950" cy="2667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10344150" y="3524250"/>
            <a:ext cx="771525" cy="2667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10334625" y="4438650"/>
            <a:ext cx="781050" cy="2667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10172700" y="5343525"/>
            <a:ext cx="952500" cy="266700"/>
          </a:xfrm>
          <a:prstGeom prst="roundRect">
            <a:avLst>
              <a:gd fmla="val 50000" name="adj"/>
            </a:avLst>
          </a:prstGeom>
          <a:solidFill>
            <a:srgbClr val="FFE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4495800" y="2619375"/>
            <a:ext cx="1246137" cy="238125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4095750" y="4448175"/>
            <a:ext cx="1863476" cy="238125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762000" y="609600"/>
            <a:ext cx="10763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ESPECIFICACIONES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762000" y="923925"/>
            <a:ext cx="113014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Reglas de Transformación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1076325" y="2595562"/>
            <a:ext cx="21002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Dim_Cliente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2981325" y="2609850"/>
            <a:ext cx="7086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Función derivada para códigos postales.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10391775" y="264795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91 Filas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1076325" y="3509962"/>
            <a:ext cx="21002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Dim_Producto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2981325" y="3524250"/>
            <a:ext cx="708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Unión (LEFT JOIN) de 3 tablas. Conversión de tipo ntext a </a:t>
            </a:r>
            <a:r>
              <a:rPr lang="en-US" sz="13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DT_WSTR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10363200" y="3562350"/>
            <a:ext cx="638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77 Filas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1076325" y="4424362"/>
            <a:ext cx="21002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Dim_Empleado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2981325" y="4438650"/>
            <a:ext cx="7086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Subconsulta para prevenir llaves duplicadas.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10353675" y="4476750"/>
            <a:ext cx="647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49 Filas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1066800" y="5329237"/>
            <a:ext cx="21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Fact_Detalle_Venta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3473425" y="5343525"/>
            <a:ext cx="6603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Métricas precalculadas y enlace de 6 llaves foráneas.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10191750" y="5381625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2,155 Filas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6595050" y="2609850"/>
            <a:ext cx="144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REPLACENULL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7039475" y="4463263"/>
            <a:ext cx="22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MIN(TerritorioID)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5"/>
          <p:cNvSpPr/>
          <p:nvPr/>
        </p:nvSpPr>
        <p:spPr>
          <a:xfrm>
            <a:off x="762000" y="1952625"/>
            <a:ext cx="5133900" cy="4295700"/>
          </a:xfrm>
          <a:prstGeom prst="roundRect">
            <a:avLst>
              <a:gd fmla="val 3547" name="adj"/>
            </a:avLst>
          </a:prstGeom>
          <a:solidFill>
            <a:srgbClr val="2A22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6276975" y="1952625"/>
            <a:ext cx="5153025" cy="4295775"/>
          </a:xfrm>
          <a:prstGeom prst="roundRect">
            <a:avLst>
              <a:gd fmla="val 35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8" name="Google Shape;3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497111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348136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200" y="4226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3213" y="497108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43700" y="350666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5"/>
          <p:cNvSpPr txBox="1"/>
          <p:nvPr/>
        </p:nvSpPr>
        <p:spPr>
          <a:xfrm>
            <a:off x="762000" y="609600"/>
            <a:ext cx="10763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IMPLEMENTACIÓN TÉCNICA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762000" y="923925"/>
            <a:ext cx="113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Garantía de Calidad (QA) y Automatización 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1107450" y="2416925"/>
            <a:ext cx="444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D2FF"/>
                </a:solidFill>
                <a:latin typeface="Poppins"/>
                <a:ea typeface="Poppins"/>
                <a:cs typeface="Poppins"/>
                <a:sym typeface="Poppins"/>
              </a:rPr>
              <a:t>Automatización Total del ETL 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6743700" y="2419350"/>
            <a:ext cx="45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Base de Datos Blindada 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1552650" y="4794063"/>
            <a:ext cx="399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9A000"/>
                </a:solidFill>
                <a:latin typeface="Poppins"/>
                <a:ea typeface="Poppins"/>
                <a:cs typeface="Poppins"/>
                <a:sym typeface="Poppins"/>
              </a:rPr>
              <a:t>Calendario Inteligente: </a:t>
            </a:r>
            <a:r>
              <a:rPr lang="en-US" sz="1200">
                <a:solidFill>
                  <a:srgbClr val="D9A000"/>
                </a:solidFill>
                <a:latin typeface="Poppins"/>
                <a:ea typeface="Poppins"/>
                <a:cs typeface="Poppins"/>
                <a:sym typeface="Poppins"/>
              </a:rPr>
              <a:t>Crea fechas estructuradas basándose estrictamente en los registros operativos reales del negocio.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1562100" y="4049213"/>
            <a:ext cx="39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9A000"/>
                </a:solidFill>
                <a:latin typeface="Poppins"/>
                <a:ea typeface="Poppins"/>
                <a:cs typeface="Poppins"/>
                <a:sym typeface="Poppins"/>
              </a:rPr>
              <a:t>Generación nativa en SSIS: </a:t>
            </a:r>
            <a:r>
              <a:rPr lang="en-US" sz="1200">
                <a:solidFill>
                  <a:srgbClr val="D9A000"/>
                </a:solidFill>
                <a:latin typeface="Poppins"/>
                <a:ea typeface="Poppins"/>
                <a:cs typeface="Poppins"/>
                <a:sym typeface="Poppins"/>
              </a:rPr>
              <a:t>Se autogenera dinámicamente mediante código SQL incrustado directamente en el flujo de orquestación.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1562100" y="3329638"/>
            <a:ext cx="39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9A000"/>
                </a:solidFill>
                <a:latin typeface="Poppins"/>
                <a:ea typeface="Poppins"/>
                <a:cs typeface="Poppins"/>
                <a:sym typeface="Poppins"/>
              </a:rPr>
              <a:t>Cero intervención manual: </a:t>
            </a:r>
            <a:r>
              <a:rPr lang="en-US" sz="1200">
                <a:solidFill>
                  <a:srgbClr val="D9A000"/>
                </a:solidFill>
                <a:latin typeface="Poppins"/>
                <a:ea typeface="Poppins"/>
                <a:cs typeface="Poppins"/>
                <a:sym typeface="Poppins"/>
              </a:rPr>
              <a:t>La Dimensión Tiempo se gestiona de forma 100% autónoma sin depender de operadores.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7072888" y="4701650"/>
            <a:ext cx="399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Cero Datos Huérfanos: </a:t>
            </a:r>
            <a:endParaRPr b="1" sz="1200">
              <a:solidFill>
                <a:srgbClr val="2A226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Restricciones estrictas (Foreign Keys) que impiden al sistema registrar ventas asociadas a clientes o productos inexistentes.</a:t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7082350" y="3237238"/>
            <a:ext cx="39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Cero Duplicados: </a:t>
            </a:r>
            <a:endParaRPr b="1" i="0" sz="1200" u="none" cap="none" strike="noStrike">
              <a:solidFill>
                <a:srgbClr val="2A226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2A2265"/>
                </a:solidFill>
                <a:latin typeface="Poppins"/>
                <a:ea typeface="Poppins"/>
                <a:cs typeface="Poppins"/>
                <a:sym typeface="Poppins"/>
              </a:rPr>
              <a:t>Implementación de llave primaria compuesta natural (ID_ORDEN, ID_PROD) que rechaza registros repetidos.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2265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6"/>
          <p:cNvSpPr/>
          <p:nvPr/>
        </p:nvSpPr>
        <p:spPr>
          <a:xfrm>
            <a:off x="3066725" y="4227098"/>
            <a:ext cx="57150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7" name="Google Shape;3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9372" y="1593599"/>
            <a:ext cx="933255" cy="933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312" y="186972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6"/>
          <p:cNvSpPr txBox="1"/>
          <p:nvPr/>
        </p:nvSpPr>
        <p:spPr>
          <a:xfrm>
            <a:off x="451544" y="2822227"/>
            <a:ext cx="1128891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Base Analítica </a:t>
            </a:r>
            <a:r>
              <a:rPr b="1" i="0" lang="en-US" sz="4800" u="none" cap="none" strike="noStrike">
                <a:solidFill>
                  <a:srgbClr val="FFE082"/>
                </a:solidFill>
                <a:latin typeface="Poppins"/>
                <a:ea typeface="Poppins"/>
                <a:cs typeface="Poppins"/>
                <a:sym typeface="Poppins"/>
              </a:rPr>
              <a:t>Desplegada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2893218" y="3721298"/>
            <a:ext cx="640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Continuará</a:t>
            </a:r>
            <a:r>
              <a:rPr lang="en-US" sz="18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..</a:t>
            </a:r>
            <a:r>
              <a:rPr b="0" i="0" lang="en-US" sz="18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2352350" y="4541423"/>
            <a:ext cx="71439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0D2FF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